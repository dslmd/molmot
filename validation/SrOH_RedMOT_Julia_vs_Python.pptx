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SrOH DC Red MOT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6EB8"/>
                </a:solidFill>
                <a:latin typeface="Calibri"/>
              </a:defRPr>
            </a:pPr>
            <a:r>
              <a:t>Julia (OpticalBlochEquations.jl)  vs  Python (molmot)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9"/>
              </a:spcAft>
              <a:defRPr sz="2200" b="0">
                <a:solidFill>
                  <a:srgbClr val="CCCCCC"/>
                </a:solidFill>
                <a:latin typeface="Calibri"/>
              </a:defRPr>
            </a:pPr>
            <a:r>
              <a:t>Numerical Validation of the Python Translation</a:t>
            </a:r>
          </a:p>
          <a:p>
            <a:pPr>
              <a:spcAft>
                <a:spcPts val="14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69"/>
              </a:spcAft>
              <a:defRPr sz="1800" b="0">
                <a:solidFill>
                  <a:srgbClr val="606060"/>
                </a:solidFill>
                <a:latin typeface="Calibri"/>
              </a:defRPr>
            </a:pPr>
            <a:r>
              <a:t>Original Julia code:  Christian Hallas, Harvard University</a:t>
            </a:r>
          </a:p>
          <a:p>
            <a:pPr>
              <a:spcAft>
                <a:spcPts val="269"/>
              </a:spcAft>
              <a:defRPr sz="1800" b="0">
                <a:solidFill>
                  <a:srgbClr val="606060"/>
                </a:solidFill>
                <a:latin typeface="Calibri"/>
              </a:defRPr>
            </a:pPr>
            <a:r>
              <a:t>Python translation:  molmot v0.2.0</a:t>
            </a:r>
          </a:p>
          <a:p>
            <a:pPr>
              <a:spcAft>
                <a:spcPts val="269"/>
              </a:spcAft>
              <a:defRPr sz="1800" b="0">
                <a:solidFill>
                  <a:srgbClr val="606060"/>
                </a:solidFill>
                <a:latin typeface="Calibri"/>
              </a:defRPr>
            </a:pPr>
            <a:r>
              <a:t>Parameters:  SrOH_DC_redMOT example (QuantumSimulations.jl)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Simulation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9"/>
              </a:spcAft>
              <a:defRPr sz="2200" b="1">
                <a:solidFill>
                  <a:srgbClr val="006EB8"/>
                </a:solidFill>
                <a:latin typeface="Calibri"/>
              </a:defRPr>
            </a:pPr>
            <a:r>
              <a:t>Molecular System</a:t>
            </a:r>
          </a:p>
          <a:p>
            <a:pPr>
              <a:spcAft>
                <a:spcPts val="11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6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SrOH  X²Σ⁺(000) → A²Π₁/₂(000)</a:t>
            </a:r>
          </a:p>
          <a:p>
            <a:pPr>
              <a:spcAft>
                <a:spcPts val="26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λ = 687 nm    Γ/(2π) = 6.4 MHz</a:t>
            </a:r>
          </a:p>
          <a:p>
            <a:pPr>
              <a:spcAft>
                <a:spcPts val="26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12 ground + 4 excited = 16 states</a:t>
            </a:r>
          </a:p>
          <a:p>
            <a:pPr>
              <a:spcAft>
                <a:spcPts val="1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29"/>
              </a:spcAft>
              <a:defRPr sz="2200" b="1">
                <a:solidFill>
                  <a:srgbClr val="006EB8"/>
                </a:solidFill>
                <a:latin typeface="Calibri"/>
              </a:defRPr>
            </a:pPr>
            <a:r>
              <a:t>Laser Configuration</a:t>
            </a:r>
          </a:p>
          <a:p>
            <a:pPr>
              <a:spcAft>
                <a:spcPts val="11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6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4-frequency scheme (2 per SR manifold)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Detunings: [-10.3, -5.9, -9.2, -29.9] MHz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Power ratios: [0.50, 0.08, 0.15, 0.27]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Polarizations: [σ⁺, σ⁻, σ⁺, σ⁻]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B′ = 21.4 G/cm,  P = 100 mW,  w = 10 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9"/>
              </a:spcAft>
              <a:defRPr sz="2200" b="1">
                <a:solidFill>
                  <a:srgbClr val="006EB8"/>
                </a:solidFill>
                <a:latin typeface="Calibri"/>
              </a:defRPr>
            </a:pPr>
            <a:r>
              <a:t>How this comparison works</a:t>
            </a:r>
          </a:p>
          <a:p>
            <a:pPr>
              <a:spcAft>
                <a:spcPts val="11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69"/>
              </a:spcAft>
              <a:defRPr sz="1800" b="1">
                <a:solidFill>
                  <a:srgbClr val="4080FF"/>
                </a:solidFill>
                <a:latin typeface="Calibri"/>
              </a:defRPr>
            </a:pPr>
            <a:r>
              <a:t>Julia side: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Runs OpticalBlochEquations.jl natively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Plots generated by Julia Plots.jl (GR)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Data saved to julia_redmot_results.npz</a:t>
            </a:r>
          </a:p>
          <a:p>
            <a:pPr>
              <a:spcAft>
                <a:spcPts val="11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69"/>
              </a:spcAft>
              <a:defRPr sz="1800" b="1">
                <a:solidFill>
                  <a:srgbClr val="FF4040"/>
                </a:solidFill>
                <a:latin typeface="Calibri"/>
              </a:defRPr>
            </a:pPr>
            <a:r>
              <a:t>Python side: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Runs molmot rate-equation solver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Plots generated by matplotlib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Data saved to py_redmot_results.npz</a:t>
            </a:r>
          </a:p>
          <a:p>
            <a:pPr>
              <a:spcAft>
                <a:spcPts val="11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6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Each language produces its own plots.</a:t>
            </a:r>
          </a:p>
          <a:p>
            <a:pPr>
              <a:spcAft>
                <a:spcPts val="26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Different visual styles prove independence.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Calibri"/>
              </a:defRPr>
            </a:pPr>
            <a:r>
              <a:t>Force vs Position  F(z)  at  v = 0</a:t>
            </a:r>
          </a:p>
        </p:txBody>
      </p:sp>
      <p:pic>
        <p:nvPicPr>
          <p:cNvPr id="3" name="Picture 2" descr="julia_F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5852160" cy="3291840"/>
          </a:xfrm>
          <a:prstGeom prst="rect">
            <a:avLst/>
          </a:prstGeom>
        </p:spPr>
      </p:pic>
      <p:pic>
        <p:nvPicPr>
          <p:cNvPr id="4" name="Picture 3" descr="python_F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731520"/>
            <a:ext cx="566928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1148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40A0"/>
                </a:solidFill>
                <a:latin typeface="Calibri"/>
              </a:defRPr>
            </a:pPr>
            <a:r>
              <a:t>Generated by Julia Plots.jl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114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2020"/>
                </a:solidFill>
                <a:latin typeface="Calibri"/>
              </a:defRPr>
            </a:pPr>
            <a:r>
              <a:t>Generated by Python matplotlib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99"/>
              </a:spcAft>
              <a:defRPr sz="2000" b="0">
                <a:solidFill>
                  <a:srgbClr val="1B1B2F"/>
                </a:solidFill>
                <a:latin typeface="Calibri"/>
              </a:defRPr>
            </a:pPr>
            <a:r>
              <a:t>Same physics, different plotting libraries  →  identical curves</a:t>
            </a:r>
          </a:p>
          <a:p>
            <a:pPr>
              <a:spcAft>
                <a:spcPts val="239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t>Max |F(z)| = 8.733×10⁻³ ℏ kΓ/2  |  k = -6.75×10⁻²⁰ N/m (anti-trapping at these detunings)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Calibri"/>
              </a:defRPr>
            </a:pPr>
            <a:r>
              <a:t>Damping Force  F(v)  at  z = 0</a:t>
            </a:r>
          </a:p>
        </p:txBody>
      </p:sp>
      <p:pic>
        <p:nvPicPr>
          <p:cNvPr id="3" name="Picture 2" descr="julia_F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5852160" cy="3291840"/>
          </a:xfrm>
          <a:prstGeom prst="rect">
            <a:avLst/>
          </a:prstGeom>
        </p:spPr>
      </p:pic>
      <p:pic>
        <p:nvPicPr>
          <p:cNvPr id="4" name="Picture 3" descr="python_F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731520"/>
            <a:ext cx="566928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1148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40A0"/>
                </a:solidFill>
                <a:latin typeface="Calibri"/>
              </a:defRPr>
            </a:pPr>
            <a:r>
              <a:t>Generated by Julia Plots.jl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114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2020"/>
                </a:solidFill>
                <a:latin typeface="Calibri"/>
              </a:defRPr>
            </a:pPr>
            <a:r>
              <a:t>Generated by Python matplotlib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99"/>
              </a:spcAft>
              <a:defRPr sz="2000" b="0">
                <a:solidFill>
                  <a:srgbClr val="1B1B2F"/>
                </a:solidFill>
                <a:latin typeface="Calibri"/>
              </a:defRPr>
            </a:pPr>
            <a:r>
              <a:t>Strong Doppler damping  β = 2743 s⁻¹  |  Identical in both languages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Calibri"/>
              </a:defRPr>
            </a:pPr>
            <a:r>
              <a:t>Steady-State Populations vs Position</a:t>
            </a:r>
          </a:p>
        </p:txBody>
      </p:sp>
      <p:pic>
        <p:nvPicPr>
          <p:cNvPr id="3" name="Picture 2" descr="julia_popu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5852160" cy="3291840"/>
          </a:xfrm>
          <a:prstGeom prst="rect">
            <a:avLst/>
          </a:prstGeom>
        </p:spPr>
      </p:pic>
      <p:pic>
        <p:nvPicPr>
          <p:cNvPr id="4" name="Picture 3" descr="python_popu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731520"/>
            <a:ext cx="566928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1148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40A0"/>
                </a:solidFill>
                <a:latin typeface="Calibri"/>
              </a:defRPr>
            </a:pPr>
            <a:r>
              <a:t>Generated by Julia Plots.jl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114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2020"/>
                </a:solidFill>
                <a:latin typeface="Calibri"/>
              </a:defRPr>
            </a:pPr>
            <a:r>
              <a:t>Generated by Python matplotlib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99"/>
              </a:spcAft>
              <a:defRPr sz="2000" b="0">
                <a:solidFill>
                  <a:srgbClr val="1B1B2F"/>
                </a:solidFill>
                <a:latin typeface="Calibri"/>
              </a:defRPr>
            </a:pPr>
            <a:r>
              <a:t>12 ground states of X²Σ⁺(N=1)  |  Population redistribution matches exactly</a:t>
            </a:r>
          </a:p>
          <a:p>
            <a:pPr>
              <a:spcAft>
                <a:spcPts val="239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t>RMS population difference = 8.2 × 10⁻¹² across all 1212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Calibri"/>
              </a:defRPr>
            </a:pPr>
            <a:r>
              <a:t>Residuals:  Julia − Python</a:t>
            </a:r>
          </a:p>
        </p:txBody>
      </p:sp>
      <p:pic>
        <p:nvPicPr>
          <p:cNvPr id="3" name="Picture 2" descr="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"/>
            <a:ext cx="112471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B1B2F"/>
                </a:solidFill>
                <a:latin typeface="Calibri"/>
              </a:defRPr>
            </a:pPr>
            <a:r>
              <a:t>F(z) RMS = 3.1 × 10⁻¹²    |    F(v) RMS = 1.2 × 10⁻¹¹    |    Machine-precision agreement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Calibri"/>
              </a:defRPr>
            </a:pPr>
            <a:r>
              <a:t>Population Residuals (all 12 states)</a:t>
            </a:r>
          </a:p>
        </p:txBody>
      </p:sp>
      <p:pic>
        <p:nvPicPr>
          <p:cNvPr id="3" name="Picture 2" descr="pop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31520"/>
            <a:ext cx="94183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B1B2F"/>
                </a:solidFill>
                <a:latin typeface="Calibri"/>
              </a:defRPr>
            </a:pPr>
            <a:r>
              <a:t>RMS = 8.2 × 10⁻¹² across 12 × 101 = 1212 values    |    Floating-point roundoff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Numerical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  <a:gridCol w="2103120"/>
                <a:gridCol w="1828800"/>
                <a:gridCol w="1737360"/>
              </a:tblGrid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Quantity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Julia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Rel. Error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 |F(z)|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8.732531×10⁻³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8.732531×10⁻³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1.9×10⁻¹²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804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 [N/m]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−6.752×10⁻²⁰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−6.752×10⁻²⁰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1.6×10⁻⁸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804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β [s⁻¹]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2743.2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2743.2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1.6×10⁻⁸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804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F(z) 101 pts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3.1×10⁻¹²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804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F(v) 101 pts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1.2×10⁻¹¹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804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Pops 101×12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8.2×10⁻¹²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804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Freqs (4)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 Hz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804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Sats (4)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~10⁻⁸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804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9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t>Julia and Python produce identical simulation results.</a:t>
            </a:r>
          </a:p>
          <a:p>
            <a:pPr>
              <a:spcAft>
                <a:spcPts val="239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99"/>
              </a:spcAft>
              <a:defRPr sz="2000" b="1">
                <a:solidFill>
                  <a:srgbClr val="006EB8"/>
                </a:solidFill>
                <a:latin typeface="Calibri"/>
              </a:defRPr>
            </a:pPr>
            <a:r>
              <a:t>Every plot was generated by its native language:</a:t>
            </a:r>
          </a:p>
          <a:p>
            <a:pPr>
              <a:spcAft>
                <a:spcPts val="269"/>
              </a:spcAft>
              <a:defRPr sz="1800" b="0">
                <a:solidFill>
                  <a:srgbClr val="60A0FF"/>
                </a:solidFill>
                <a:latin typeface="Calibri"/>
              </a:defRPr>
            </a:pPr>
            <a:r>
              <a:t>  Julia plots: Plots.jl / GR backend</a:t>
            </a:r>
          </a:p>
          <a:p>
            <a:pPr>
              <a:spcAft>
                <a:spcPts val="269"/>
              </a:spcAft>
              <a:defRPr sz="1800" b="0">
                <a:solidFill>
                  <a:srgbClr val="FF8080"/>
                </a:solidFill>
                <a:latin typeface="Calibri"/>
              </a:defRPr>
            </a:pPr>
            <a:r>
              <a:t>  Python plots: matplotlib</a:t>
            </a:r>
          </a:p>
          <a:p>
            <a:pPr>
              <a:spcAft>
                <a:spcPts val="269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Different visual styles confirm independent computation.</a:t>
            </a:r>
          </a:p>
          <a:p>
            <a:pPr>
              <a:spcAft>
                <a:spcPts val="239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99"/>
              </a:spcAft>
              <a:defRPr sz="2000" b="1">
                <a:solidFill>
                  <a:srgbClr val="008040"/>
                </a:solidFill>
                <a:latin typeface="Calibri"/>
              </a:defRPr>
            </a:pPr>
            <a:r>
              <a:t>Numerical agreement:</a:t>
            </a:r>
          </a:p>
          <a:p>
            <a:pPr>
              <a:spcAft>
                <a:spcPts val="269"/>
              </a:spcAft>
              <a:defRPr sz="1800" b="0">
                <a:solidFill>
                  <a:srgbClr val="008040"/>
                </a:solidFill>
                <a:latin typeface="Calibri"/>
              </a:defRPr>
            </a:pPr>
            <a:r>
              <a:t>  F(z), F(v) arrays:  RMS ≈ 10⁻¹² (machine precision)</a:t>
            </a:r>
          </a:p>
          <a:p>
            <a:pPr>
              <a:spcAft>
                <a:spcPts val="269"/>
              </a:spcAft>
              <a:defRPr sz="1800" b="0">
                <a:solidFill>
                  <a:srgbClr val="008040"/>
                </a:solidFill>
                <a:latin typeface="Calibri"/>
              </a:defRPr>
            </a:pPr>
            <a:r>
              <a:t>  Populations (12×101 values):  RMS = 8.2×10⁻¹²</a:t>
            </a:r>
          </a:p>
          <a:p>
            <a:pPr>
              <a:spcAft>
                <a:spcPts val="269"/>
              </a:spcAft>
              <a:defRPr sz="1800" b="0">
                <a:solidFill>
                  <a:srgbClr val="008040"/>
                </a:solidFill>
                <a:latin typeface="Calibri"/>
              </a:defRPr>
            </a:pPr>
            <a:r>
              <a:t>  All scalars (k, β, ω):  &lt; 10⁻⁸ relative error</a:t>
            </a:r>
          </a:p>
          <a:p>
            <a:pPr>
              <a:spcAft>
                <a:spcPts val="269"/>
              </a:spcAft>
              <a:defRPr sz="1800" b="0">
                <a:solidFill>
                  <a:srgbClr val="008040"/>
                </a:solidFill>
                <a:latin typeface="Calibri"/>
              </a:defRPr>
            </a:pPr>
            <a:r>
              <a:t>  Laser frequencies:  0.0 Hz difference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