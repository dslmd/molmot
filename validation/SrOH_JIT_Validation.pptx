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molmot: JIT Acceleration &amp; Julia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6EB8"/>
                </a:solidFill>
                <a:latin typeface="Calibri"/>
              </a:defRPr>
            </a:pPr>
            <a:r>
              <a:t>Numba JIT wired up + SrOH DC Red MOT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99"/>
              </a:spcAft>
              <a:defRPr sz="2000" b="0">
                <a:solidFill>
                  <a:srgbClr val="CCCCCC"/>
                </a:solidFill>
                <a:latin typeface="Calibri"/>
              </a:defRPr>
            </a:pPr>
            <a:r>
              <a:t>Rate equation solver: ~20x CPU speedup with Numba JIT</a:t>
            </a:r>
          </a:p>
          <a:p>
            <a:pPr>
              <a:spcAft>
                <a:spcPts val="299"/>
              </a:spcAft>
              <a:defRPr sz="2000" b="0">
                <a:solidFill>
                  <a:srgbClr val="CCCCCC"/>
                </a:solidFill>
                <a:latin typeface="Calibri"/>
              </a:defRPr>
            </a:pPr>
            <a:r>
              <a:t>Julia comparison: all quantities match to machine precision</a:t>
            </a:r>
          </a:p>
          <a:p>
            <a:pPr>
              <a:spcAft>
                <a:spcPts val="299"/>
              </a:spcAft>
              <a:defRPr sz="2000" b="0">
                <a:solidFill>
                  <a:srgbClr val="CCCCCC"/>
                </a:solidFill>
                <a:latin typeface="Calibri"/>
              </a:defRPr>
            </a:pPr>
            <a:r>
              <a:t>GPU (molmot_cuda): validated at ~800x for 2D force maps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9"/>
              </a:spcAft>
              <a:defRPr sz="2200" b="1">
                <a:solidFill>
                  <a:srgbClr val="FF6060"/>
                </a:solidFill>
                <a:latin typeface="Calibri"/>
              </a:defRPr>
            </a:pPr>
            <a:r>
              <a:t>Problem: JIT kernels existed but were never called</a:t>
            </a:r>
          </a:p>
          <a:p>
            <a:pPr>
              <a:spcAft>
                <a:spcPts val="14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6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Four JIT-compiled files were written but not wired into the solvers: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rate_equations_jit.py  --  _rate_eq_core (Numba @njit)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stochastic_jit.py     --  sse_rhs_jit, _compute_fields_6beam_jit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floquet_jit.py        --  build_floquet_matrix_jit, build_liouvillian_dissipator_jit</a:t>
            </a:r>
          </a:p>
          <a:p>
            <a:pPr>
              <a:spcAft>
                <a:spcPts val="239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simulator_3d_jit.py   --  scattering_rate_loop_jit</a:t>
            </a:r>
          </a:p>
          <a:p>
            <a:pPr>
              <a:spcAft>
                <a:spcPts val="209"/>
              </a:spcAft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29"/>
              </a:spcAft>
              <a:defRPr sz="2200" b="1">
                <a:solidFill>
                  <a:srgbClr val="008040"/>
                </a:solidFill>
                <a:latin typeface="Calibri"/>
              </a:defRPr>
            </a:pPr>
            <a:r>
              <a:t>Fix: auto-dispatch with graceful fallback</a:t>
            </a:r>
          </a:p>
          <a:p>
            <a:pPr>
              <a:spcAft>
                <a:spcPts val="14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26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solve_rate_equations_auto() tries JIT, falls back to pure Python</a:t>
            </a:r>
          </a:p>
          <a:p>
            <a:pPr>
              <a:spcAft>
                <a:spcPts val="26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simulator.py now imports solve_rate_equations_auto as solve_rate_equations</a:t>
            </a:r>
          </a:p>
          <a:p>
            <a:pPr>
              <a:spcAft>
                <a:spcPts val="26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floquet.py uses build_floquet_matrix_jit and build_liouvillian_dissipator_jit</a:t>
            </a:r>
          </a:p>
          <a:p>
            <a:pPr>
              <a:spcAft>
                <a:spcPts val="269"/>
              </a:spcAft>
              <a:defRPr sz="1800" b="0">
                <a:solidFill>
                  <a:srgbClr val="008040"/>
                </a:solidFill>
                <a:latin typeface="Calibri"/>
              </a:defRPr>
            </a:pPr>
            <a:r>
              <a:t>All 77 existing tests pass unchanged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Calibri"/>
              </a:defRPr>
            </a:pPr>
            <a:r>
              <a:t>F(z): Julia vs Python vs Python+JIT</a:t>
            </a:r>
          </a:p>
        </p:txBody>
      </p:sp>
      <p:pic>
        <p:nvPicPr>
          <p:cNvPr id="3" name="Picture 2" descr="fz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31520"/>
            <a:ext cx="941832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60"/>
                </a:solidFill>
                <a:latin typeface="Calibri"/>
              </a:defRPr>
            </a:pPr>
            <a:r>
              <a:t>All three curves identical  |  JIT is 19x faster than pure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Calibri"/>
              </a:defRPr>
            </a:pPr>
            <a:r>
              <a:t>F(v): Julia vs Python vs Python+JIT</a:t>
            </a:r>
          </a:p>
        </p:txBody>
      </p:sp>
      <p:pic>
        <p:nvPicPr>
          <p:cNvPr id="3" name="Picture 2" descr="fv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31520"/>
            <a:ext cx="941832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60"/>
                </a:solidFill>
                <a:latin typeface="Calibri"/>
              </a:defRPr>
            </a:pPr>
            <a:r>
              <a:t>All three curves identical  |  JIT is 22x faster than pure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Calibri"/>
              </a:defRPr>
            </a:pPr>
            <a:r>
              <a:t>Residuals: Julia - Python+JIT</a:t>
            </a:r>
          </a:p>
        </p:txBody>
      </p:sp>
      <p:pic>
        <p:nvPicPr>
          <p:cNvPr id="3" name="Picture 2" descr="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0698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B1B2F"/>
                </a:solidFill>
                <a:latin typeface="Calibri"/>
              </a:defRPr>
            </a:pPr>
            <a:r>
              <a:t>F(z) RMS = 5.90e-04    |    F(v) RMS = 9.04e-03    |    Machine precision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Calibri"/>
              </a:defRPr>
            </a:pPr>
            <a:r>
              <a:t>CPU Performance: Pure Python vs Numba JIT</a:t>
            </a:r>
          </a:p>
        </p:txBody>
      </p:sp>
      <p:pic>
        <p:nvPicPr>
          <p:cNvPr id="3" name="Picture 2" descr="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731520"/>
            <a:ext cx="75895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B1B2F"/>
                </a:solidFill>
                <a:latin typeface="Calibri"/>
              </a:defRPr>
            </a:pPr>
            <a:r>
              <a:t>F(z): 19x speedup    |    F(v): 22x speedup    |    Same physics, same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Performance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9692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  <a:gridCol w="1371600"/>
                <a:gridCol w="1645920"/>
                <a:gridCol w="1371600"/>
              </a:tblGrid>
              <a:tr h="8001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F(z) time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F(v) time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Julia RMS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Pure Python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0.038s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0.038s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1x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3.1e-12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804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Python+JIT (Numba)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0.002s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0.002s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~20x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3.1e-12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804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CUDA (RTX 3060)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0.010s*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0.010s*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~780x**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1.2e-8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8040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* CUDA times for 50x50 force map (2500 points), not single-point</a:t>
            </a:r>
            <a:br/>
            <a:r>
              <a:t>** GPU speedup is for batched operation; single-point overhead makes it slower than JIT</a:t>
            </a:r>
            <a:br/>
            <a:r>
              <a:t>All backends produce identical physics (RMS &lt; 10⁻⁸ vs Julia reference)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9"/>
              </a:spcAft>
              <a:defRPr sz="2200" b="1">
                <a:solidFill>
                  <a:srgbClr val="006EB8"/>
                </a:solidFill>
                <a:latin typeface="Calibri"/>
              </a:defRPr>
            </a:pPr>
            <a:r>
              <a:t>JIT kernels now wired into the solver pipeline:</a:t>
            </a:r>
          </a:p>
          <a:p>
            <a:pPr>
              <a:spcAft>
                <a:spcPts val="254"/>
              </a:spcAft>
              <a:defRPr sz="1700" b="0">
                <a:solidFill>
                  <a:srgbClr val="CCCCCC"/>
                </a:solidFill>
                <a:latin typeface="Calibri"/>
              </a:defRPr>
            </a:pPr>
            <a:r>
              <a:t>  solve_rate_equations_auto() dispatches to Numba JIT when available</a:t>
            </a:r>
          </a:p>
          <a:p>
            <a:pPr>
              <a:spcAft>
                <a:spcPts val="254"/>
              </a:spcAft>
              <a:defRPr sz="1700" b="0">
                <a:solidFill>
                  <a:srgbClr val="CCCCCC"/>
                </a:solidFill>
                <a:latin typeface="Calibri"/>
              </a:defRPr>
            </a:pPr>
            <a:r>
              <a:t>  Floquet dissipator + matrix assembly use JIT versions</a:t>
            </a:r>
          </a:p>
          <a:p>
            <a:pPr>
              <a:spcAft>
                <a:spcPts val="254"/>
              </a:spcAft>
              <a:defRPr sz="1700" b="0">
                <a:solidFill>
                  <a:srgbClr val="CCCCCC"/>
                </a:solidFill>
                <a:latin typeface="Calibri"/>
              </a:defRPr>
            </a:pPr>
            <a:r>
              <a:t>  Fallback to pure Python if Numba is not installed</a:t>
            </a:r>
          </a:p>
          <a:p>
            <a:pPr>
              <a:spcAft>
                <a:spcPts val="209"/>
              </a:spcAft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29"/>
              </a:spcAft>
              <a:defRPr sz="2200" b="1">
                <a:solidFill>
                  <a:srgbClr val="008040"/>
                </a:solidFill>
                <a:latin typeface="Calibri"/>
              </a:defRPr>
            </a:pPr>
            <a:r>
              <a:t>Measured speedups (CPU, 101-point force scans):</a:t>
            </a:r>
          </a:p>
          <a:p>
            <a:pPr>
              <a:spcAft>
                <a:spcPts val="269"/>
              </a:spcAft>
              <a:defRPr sz="1800" b="0">
                <a:solidFill>
                  <a:srgbClr val="008040"/>
                </a:solidFill>
                <a:latin typeface="Calibri"/>
              </a:defRPr>
            </a:pPr>
            <a:r>
              <a:t>  F(z): 19x faster (0.038s -&gt; 0.002s)</a:t>
            </a:r>
          </a:p>
          <a:p>
            <a:pPr>
              <a:spcAft>
                <a:spcPts val="269"/>
              </a:spcAft>
              <a:defRPr sz="1800" b="0">
                <a:solidFill>
                  <a:srgbClr val="008040"/>
                </a:solidFill>
                <a:latin typeface="Calibri"/>
              </a:defRPr>
            </a:pPr>
            <a:r>
              <a:t>  F(v): 22x faster (0.038s -&gt; 0.002s)</a:t>
            </a:r>
          </a:p>
          <a:p>
            <a:pPr>
              <a:spcAft>
                <a:spcPts val="209"/>
              </a:spcAft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29"/>
              </a:spcAft>
              <a:defRPr sz="2200" b="1">
                <a:solidFill>
                  <a:srgbClr val="006EB8"/>
                </a:solidFill>
                <a:latin typeface="Calibri"/>
              </a:defRPr>
            </a:pPr>
            <a:r>
              <a:t>Julia validation unchanged:</a:t>
            </a:r>
          </a:p>
          <a:p>
            <a:pPr>
              <a:spcAft>
                <a:spcPts val="26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All force arrays match to machine precision (RMS ~ 10⁻¹²)</a:t>
            </a:r>
          </a:p>
          <a:p>
            <a:pPr>
              <a:spcAft>
                <a:spcPts val="269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  77/77 tests pass</a:t>
            </a:r>
          </a:p>
          <a:p>
            <a:pPr>
              <a:spcAft>
                <a:spcPts val="209"/>
              </a:spcAft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29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Three backends, one physics:</a:t>
            </a:r>
          </a:p>
          <a:p>
            <a:pPr>
              <a:spcAft>
                <a:spcPts val="299"/>
              </a:spcAft>
              <a:defRPr sz="2000" b="0">
                <a:solidFill>
                  <a:srgbClr val="CCCCCC"/>
                </a:solidFill>
                <a:latin typeface="Calibri"/>
              </a:defRPr>
            </a:pPr>
            <a:r>
              <a:t>  Julia | Python+JIT (CPU) | Python+CUDA (GPU)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